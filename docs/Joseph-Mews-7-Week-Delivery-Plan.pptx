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164592"/>
            <a:ext cx="11606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2A4A"/>
                </a:solidFill>
                <a:latin typeface="Calibri"/>
              </a:rPr>
              <a:t>Joseph Mews: 7-Week Delivery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" y="566928"/>
            <a:ext cx="11606479" cy="274320"/>
          </a:xfrm>
          <a:prstGeom prst="rect">
            <a:avLst/>
          </a:prstGeom>
          <a:solidFill>
            <a:srgbClr val="FFFFFF"/>
          </a:solidFill>
          <a:ln w="11430">
            <a:solidFill>
              <a:srgbClr val="B8B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612648"/>
            <a:ext cx="11423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Initial App Store Submission: 21 August  |  TestFlight Build: 26 August  |  Delivery Target: 18 September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877824"/>
            <a:ext cx="116064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A7A7A"/>
                </a:solidFill>
                <a:latin typeface="Calibri"/>
              </a:rPr>
              <a:t>Required from Joseph Mews: named project sponsor, approved knowledge base content, CRM requirements and access, projection calculations, and Apple/Android developer account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536192"/>
            <a:ext cx="1160647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2432304"/>
            <a:ext cx="1160647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3328416"/>
            <a:ext cx="1160647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4224528"/>
            <a:ext cx="1160647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5120640"/>
            <a:ext cx="11606479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" y="1536192"/>
            <a:ext cx="11606479" cy="952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2432304"/>
            <a:ext cx="11606479" cy="952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" y="3328416"/>
            <a:ext cx="11606479" cy="952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08" y="4224528"/>
            <a:ext cx="11606479" cy="952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5120640"/>
            <a:ext cx="11606479" cy="952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6016752"/>
            <a:ext cx="11606479" cy="9525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44368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3613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02859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82104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1350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40595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19841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99087" y="1536192"/>
            <a:ext cx="9525" cy="448056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44368" y="1115568"/>
            <a:ext cx="10795" cy="4901184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" y="1115568"/>
            <a:ext cx="11606479" cy="42062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121615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Phase / Workstream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1152144"/>
            <a:ext cx="12792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Wk 1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 Aug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3613" y="1152144"/>
            <a:ext cx="12792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Wk 2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10 Aug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23613" y="1188720"/>
            <a:ext cx="9525" cy="274320"/>
          </a:xfrm>
          <a:prstGeom prst="rect">
            <a:avLst/>
          </a:prstGeom>
          <a:solidFill>
            <a:srgbClr val="2F4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2859" y="1152144"/>
            <a:ext cx="12792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Wk 3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17 Aug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02859" y="1188720"/>
            <a:ext cx="9525" cy="274320"/>
          </a:xfrm>
          <a:prstGeom prst="rect">
            <a:avLst/>
          </a:prstGeom>
          <a:solidFill>
            <a:srgbClr val="2F4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82104" y="1152144"/>
            <a:ext cx="12792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Wk 4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24 Aug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2104" y="1188720"/>
            <a:ext cx="9525" cy="274320"/>
          </a:xfrm>
          <a:prstGeom prst="rect">
            <a:avLst/>
          </a:prstGeom>
          <a:solidFill>
            <a:srgbClr val="2F4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61350" y="1152144"/>
            <a:ext cx="12792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Wk 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31 Aug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1350" y="1188720"/>
            <a:ext cx="9525" cy="274320"/>
          </a:xfrm>
          <a:prstGeom prst="rect">
            <a:avLst/>
          </a:prstGeom>
          <a:solidFill>
            <a:srgbClr val="2F4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0595" y="1152144"/>
            <a:ext cx="12792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Wk 6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7 Sep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40595" y="1188720"/>
            <a:ext cx="9525" cy="274320"/>
          </a:xfrm>
          <a:prstGeom prst="rect">
            <a:avLst/>
          </a:prstGeom>
          <a:solidFill>
            <a:srgbClr val="2F4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19841" y="1152144"/>
            <a:ext cx="127924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Wk 7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14 Sep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19841" y="1188720"/>
            <a:ext cx="9525" cy="274320"/>
          </a:xfrm>
          <a:prstGeom prst="rect">
            <a:avLst/>
          </a:prstGeom>
          <a:solidFill>
            <a:srgbClr val="2F4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" y="1755648"/>
            <a:ext cx="118872" cy="118872"/>
          </a:xfrm>
          <a:prstGeom prst="rect">
            <a:avLst/>
          </a:prstGeom>
          <a:solidFill>
            <a:srgbClr val="4F8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1682496"/>
            <a:ext cx="22677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Core Infrastructure &amp; Access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6B6B6B"/>
                </a:solidFill>
                <a:latin typeface="Calibri"/>
              </a:rPr>
              <a:t>Application environments, authentication, user access, core data model and platform foundations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90088" y="1865376"/>
            <a:ext cx="2467051" cy="237744"/>
          </a:xfrm>
          <a:prstGeom prst="roundRect">
            <a:avLst>
              <a:gd name="adj" fmla="val 35000"/>
            </a:avLst>
          </a:prstGeom>
          <a:solidFill>
            <a:srgbClr val="4F8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" y="2651760"/>
            <a:ext cx="118872" cy="118872"/>
          </a:xfrm>
          <a:prstGeom prst="rect">
            <a:avLst/>
          </a:prstGeom>
          <a:solidFill>
            <a:srgbClr val="E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" y="2578608"/>
            <a:ext cx="22677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Portfolio, Properties &amp; Documents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6B6B6B"/>
                </a:solidFill>
                <a:latin typeface="Calibri"/>
              </a:rPr>
              <a:t>Investor portfolio, property details, payment schedules and property-specific document management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9333" y="2761488"/>
            <a:ext cx="3746296" cy="237744"/>
          </a:xfrm>
          <a:prstGeom prst="roundRect">
            <a:avLst>
              <a:gd name="adj" fmla="val 35000"/>
            </a:avLst>
          </a:prstGeom>
          <a:solidFill>
            <a:srgbClr val="E89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" y="3547872"/>
            <a:ext cx="118872" cy="118872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3474720"/>
            <a:ext cx="22677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Projections &amp; Financial Tools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6B6B6B"/>
                </a:solidFill>
                <a:latin typeface="Calibri"/>
              </a:rPr>
              <a:t>Investment projections, calculator journeys, assumptions, mortgage information and financial outputs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48579" y="3657600"/>
            <a:ext cx="3746296" cy="237744"/>
          </a:xfrm>
          <a:prstGeom prst="roundRect">
            <a:avLst>
              <a:gd name="adj" fmla="val 35000"/>
            </a:avLst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0624" y="4443984"/>
            <a:ext cx="118872" cy="118872"/>
          </a:xfrm>
          <a:prstGeom prst="rect">
            <a:avLst/>
          </a:prstGeom>
          <a:solidFill>
            <a:srgbClr val="7B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" y="4370832"/>
            <a:ext cx="22677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CRM, Engagement &amp; WhatsApp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6B6B6B"/>
                </a:solidFill>
                <a:latin typeface="Calibri"/>
              </a:rPr>
              <a:t>CRM synchronisation, investor activity signals, administration workflows and WhatsApp experience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27824" y="4553712"/>
            <a:ext cx="3746296" cy="237744"/>
          </a:xfrm>
          <a:prstGeom prst="roundRect">
            <a:avLst>
              <a:gd name="adj" fmla="val 35000"/>
            </a:avLst>
          </a:prstGeom>
          <a:solidFill>
            <a:srgbClr val="7B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0624" y="5340096"/>
            <a:ext cx="118872" cy="118872"/>
          </a:xfrm>
          <a:prstGeom prst="rect">
            <a:avLst/>
          </a:prstGeom>
          <a:solidFill>
            <a:srgbClr val="C5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5266944"/>
            <a:ext cx="22677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Calibri"/>
              </a:rPr>
              <a:t>Testing &amp; Launch Readiness</a:t>
            </a:r>
          </a:p>
          <a:p>
            <a:pPr algn="l">
              <a:spcBef>
                <a:spcPts val="400"/>
              </a:spcBef>
            </a:pPr>
            <a:r>
              <a:rPr sz="850" b="0">
                <a:solidFill>
                  <a:srgbClr val="6B6B6B"/>
                </a:solidFill>
                <a:latin typeface="Calibri"/>
              </a:rPr>
              <a:t>Integration testing, stakeholder testing, issue resolution, store updates and production readiness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86315" y="5449824"/>
            <a:ext cx="2467051" cy="237744"/>
          </a:xfrm>
          <a:prstGeom prst="roundRect">
            <a:avLst>
              <a:gd name="adj" fmla="val 35000"/>
            </a:avLst>
          </a:prstGeom>
          <a:solidFill>
            <a:srgbClr val="C55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2608" y="1115568"/>
            <a:ext cx="11606479" cy="14604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2608" y="6002148"/>
            <a:ext cx="11606479" cy="14604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" y="1115568"/>
            <a:ext cx="14604" cy="4901184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884483" y="1115568"/>
            <a:ext cx="14604" cy="4901184"/>
          </a:xfrm>
          <a:prstGeom prst="rect">
            <a:avLst/>
          </a:prstGeom>
          <a:solidFill>
            <a:srgbClr val="B8B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36113" y="15361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936113" y="16504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936113" y="17647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936113" y="18790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936113" y="19933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936113" y="21076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936113" y="22219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936113" y="23362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36113" y="24505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36113" y="25648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936113" y="26791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936113" y="27934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936113" y="29077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936113" y="30220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936113" y="31363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936113" y="32506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936113" y="33649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936113" y="34792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936113" y="35935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936113" y="37078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936113" y="38221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936113" y="39364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936113" y="40507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936113" y="41650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936113" y="42793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936113" y="43936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936113" y="45079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936113" y="46222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36113" y="47365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936113" y="48508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936113" y="49651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936113" y="50794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936113" y="51937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936113" y="53080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936113" y="54223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936113" y="55366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936113" y="56509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936113" y="57652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936113" y="5879592"/>
            <a:ext cx="16510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936113" y="5993892"/>
            <a:ext cx="1651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999232" y="158191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Calibri"/>
              </a:rPr>
              <a:t>TODAY</a:t>
            </a:r>
          </a:p>
        </p:txBody>
      </p:sp>
      <p:sp>
        <p:nvSpPr>
          <p:cNvPr id="101" name="Diamond 100"/>
          <p:cNvSpPr/>
          <p:nvPr/>
        </p:nvSpPr>
        <p:spPr>
          <a:xfrm>
            <a:off x="6690664" y="2788920"/>
            <a:ext cx="182880" cy="182880"/>
          </a:xfrm>
          <a:prstGeom prst="diamond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Diamond 101"/>
          <p:cNvSpPr/>
          <p:nvPr/>
        </p:nvSpPr>
        <p:spPr>
          <a:xfrm>
            <a:off x="7202362" y="2788920"/>
            <a:ext cx="182880" cy="182880"/>
          </a:xfrm>
          <a:prstGeom prst="diamond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437936" y="2350008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1B2A4A"/>
                </a:solidFill>
                <a:latin typeface="Calibri"/>
              </a:rPr>
              <a:t>Initial App Store</a:t>
            </a:r>
          </a:p>
          <a:p>
            <a:pPr algn="r"/>
            <a:r>
              <a:rPr sz="850" b="1">
                <a:solidFill>
                  <a:srgbClr val="1B2A4A"/>
                </a:solidFill>
                <a:latin typeface="Calibri"/>
              </a:rPr>
              <a:t>submission, 21 Aug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03530" y="2350008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B2A4A"/>
                </a:solidFill>
                <a:latin typeface="Calibri"/>
              </a:rPr>
              <a:t>TestFlight build</a:t>
            </a:r>
          </a:p>
          <a:p>
            <a:pPr algn="l"/>
            <a:r>
              <a:rPr sz="850" b="1">
                <a:solidFill>
                  <a:srgbClr val="1B2A4A"/>
                </a:solidFill>
                <a:latin typeface="Calibri"/>
              </a:rPr>
              <a:t>available, 26 Aug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2608" y="6163056"/>
            <a:ext cx="116064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7A7A"/>
                </a:solidFill>
                <a:latin typeface="Calibri"/>
              </a:rPr>
              <a:t>Timeline indicative and dependent on timely content approvals, projection calculations, CRM access, developer account setup and stakeholder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